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C7E9"/>
    <a:srgbClr val="BDE1B1"/>
    <a:srgbClr val="FEB0BF"/>
    <a:srgbClr val="ECBB7E"/>
    <a:srgbClr val="FDF9F6"/>
    <a:srgbClr val="FDDDB0"/>
    <a:srgbClr val="FFFFFF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6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89865" y="122555"/>
            <a:ext cx="3372485" cy="6050915"/>
          </a:xfrm>
          <a:prstGeom prst="rect">
            <a:avLst/>
          </a:prstGeom>
          <a:solidFill>
            <a:srgbClr val="FDF9F6"/>
          </a:solidFill>
          <a:ln w="19050">
            <a:solidFill>
              <a:srgbClr val="ECBB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89865" y="122555"/>
            <a:ext cx="3372485" cy="464820"/>
          </a:xfrm>
          <a:prstGeom prst="rect">
            <a:avLst/>
          </a:prstGeom>
          <a:solidFill>
            <a:srgbClr val="FDDDB0"/>
          </a:solidFill>
          <a:ln w="19050">
            <a:solidFill>
              <a:srgbClr val="ECBB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44900" y="122555"/>
            <a:ext cx="5041265" cy="3437890"/>
          </a:xfrm>
          <a:prstGeom prst="rect">
            <a:avLst/>
          </a:prstGeom>
          <a:solidFill>
            <a:srgbClr val="FDF9F6"/>
          </a:solidFill>
          <a:ln w="19050">
            <a:solidFill>
              <a:srgbClr val="ECBB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644900" y="122555"/>
            <a:ext cx="5041265" cy="464820"/>
          </a:xfrm>
          <a:prstGeom prst="rect">
            <a:avLst/>
          </a:prstGeom>
          <a:solidFill>
            <a:srgbClr val="FDDDB0"/>
          </a:solidFill>
          <a:ln w="19050">
            <a:solidFill>
              <a:srgbClr val="ECBB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644900" y="3602990"/>
            <a:ext cx="5041265" cy="2570480"/>
          </a:xfrm>
          <a:prstGeom prst="rect">
            <a:avLst/>
          </a:prstGeom>
          <a:solidFill>
            <a:srgbClr val="FDF9F6"/>
          </a:solidFill>
          <a:ln w="19050">
            <a:solidFill>
              <a:srgbClr val="ECBB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3645535" y="3622675"/>
            <a:ext cx="5040630" cy="464820"/>
          </a:xfrm>
          <a:prstGeom prst="rect">
            <a:avLst/>
          </a:prstGeom>
          <a:solidFill>
            <a:srgbClr val="FDDDB0"/>
          </a:solidFill>
          <a:ln w="19050">
            <a:solidFill>
              <a:srgbClr val="ECBB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768715" y="122555"/>
            <a:ext cx="3372485" cy="6050915"/>
          </a:xfrm>
          <a:prstGeom prst="rect">
            <a:avLst/>
          </a:prstGeom>
          <a:solidFill>
            <a:srgbClr val="FDF9F6"/>
          </a:solidFill>
          <a:ln w="19050">
            <a:solidFill>
              <a:srgbClr val="ECBB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>
            <a:off x="8768715" y="122555"/>
            <a:ext cx="3372485" cy="464820"/>
          </a:xfrm>
          <a:prstGeom prst="rect">
            <a:avLst/>
          </a:prstGeom>
          <a:solidFill>
            <a:srgbClr val="FDDDB0"/>
          </a:solidFill>
          <a:ln w="19050">
            <a:solidFill>
              <a:srgbClr val="ECBB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ChatGPT Image 2026年7月5日 20_56_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7730" y="430530"/>
            <a:ext cx="9656445" cy="5434965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9004935" y="866140"/>
            <a:ext cx="2890520" cy="1950085"/>
          </a:xfrm>
          <a:prstGeom prst="roundRect">
            <a:avLst>
              <a:gd name="adj" fmla="val 10941"/>
            </a:avLst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9196070" y="1141730"/>
            <a:ext cx="683895" cy="292100"/>
          </a:xfrm>
          <a:prstGeom prst="roundRect">
            <a:avLst/>
          </a:prstGeom>
          <a:solidFill>
            <a:srgbClr val="FEB0B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图像2026-7-5 20.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51020" y="4657725"/>
            <a:ext cx="12192000" cy="653605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10113010" y="1141730"/>
            <a:ext cx="683895" cy="292100"/>
          </a:xfrm>
          <a:prstGeom prst="roundRect">
            <a:avLst/>
          </a:prstGeom>
          <a:solidFill>
            <a:srgbClr val="BDE1B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11029950" y="1141730"/>
            <a:ext cx="683895" cy="292100"/>
          </a:xfrm>
          <a:prstGeom prst="roundRect">
            <a:avLst/>
          </a:prstGeom>
          <a:solidFill>
            <a:srgbClr val="AFC7E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9196070" y="1703705"/>
            <a:ext cx="683895" cy="306070"/>
          </a:xfrm>
          <a:prstGeom prst="roundRect">
            <a:avLst/>
          </a:prstGeom>
          <a:solidFill>
            <a:srgbClr val="FEB0B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10113010" y="1703705"/>
            <a:ext cx="683895" cy="306070"/>
          </a:xfrm>
          <a:prstGeom prst="roundRect">
            <a:avLst/>
          </a:prstGeom>
          <a:solidFill>
            <a:srgbClr val="BDE1B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11029950" y="1703705"/>
            <a:ext cx="683895" cy="306070"/>
          </a:xfrm>
          <a:prstGeom prst="roundRect">
            <a:avLst/>
          </a:prstGeom>
          <a:solidFill>
            <a:srgbClr val="AFC7E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881110" y="222250"/>
            <a:ext cx="31032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Chalkboard SE Regular" panose="03050602040202020205" charset="0"/>
                <a:cs typeface="Chalkboard SE Regular" panose="03050602040202020205" charset="0"/>
              </a:rPr>
              <a:t>4.Gata-Admitted Pool &amp; Diagnosis</a:t>
            </a:r>
            <a:endParaRPr lang="en-US" altLang="zh-CN" sz="1400">
              <a:latin typeface="Chalkboard SE Regular" panose="03050602040202020205" charset="0"/>
              <a:cs typeface="Chalkboard SE Regular" panose="03050602040202020205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19310" y="866140"/>
            <a:ext cx="1862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Chalkboard SE Regular" panose="03050602040202020205" charset="0"/>
                <a:cs typeface="Chalkboard SE Regular" panose="03050602040202020205" charset="0"/>
              </a:rPr>
              <a:t>Real Train Split</a:t>
            </a:r>
            <a:endParaRPr lang="en-US" altLang="zh-CN" sz="1400">
              <a:latin typeface="Chalkboard SE Regular" panose="03050602040202020205" charset="0"/>
              <a:cs typeface="Chalkboard SE Regular" panose="03050602040202020205" charset="0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196070" y="2279650"/>
            <a:ext cx="683895" cy="292100"/>
          </a:xfrm>
          <a:prstGeom prst="roundRect">
            <a:avLst/>
          </a:prstGeom>
          <a:solidFill>
            <a:srgbClr val="FEB0B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10113010" y="2279650"/>
            <a:ext cx="683895" cy="292100"/>
          </a:xfrm>
          <a:prstGeom prst="roundRect">
            <a:avLst/>
          </a:prstGeom>
          <a:solidFill>
            <a:srgbClr val="BDE1B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圆角矩形 31"/>
          <p:cNvSpPr/>
          <p:nvPr/>
        </p:nvSpPr>
        <p:spPr>
          <a:xfrm>
            <a:off x="11033125" y="2279650"/>
            <a:ext cx="683895" cy="292100"/>
          </a:xfrm>
          <a:prstGeom prst="roundRect">
            <a:avLst/>
          </a:prstGeom>
          <a:solidFill>
            <a:srgbClr val="AFC7E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225280" y="1172210"/>
            <a:ext cx="683895" cy="200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Chalkboard SE Regular" panose="03050602040202020205" charset="0"/>
                <a:cs typeface="Chalkboard SE Regular" panose="03050602040202020205" charset="0"/>
              </a:rPr>
              <a:t>Healthy</a:t>
            </a:r>
            <a:endParaRPr lang="en-US" altLang="zh-CN" sz="1000">
              <a:latin typeface="Chalkboard SE Regular" panose="03050602040202020205" charset="0"/>
              <a:cs typeface="Chalkboard SE Regular" panose="03050602040202020205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282555" y="1174750"/>
            <a:ext cx="560070" cy="200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Chalkboard SE Regular" panose="03050602040202020205" charset="0"/>
                <a:cs typeface="Chalkboard SE Regular" panose="03050602040202020205" charset="0"/>
              </a:rPr>
              <a:t>OR</a:t>
            </a:r>
            <a:endParaRPr lang="en-US" altLang="zh-CN" sz="1000">
              <a:latin typeface="Chalkboard SE Regular" panose="03050602040202020205" charset="0"/>
              <a:cs typeface="Chalkboard SE Regular" panose="03050602040202020205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1227435" y="1177290"/>
            <a:ext cx="560070" cy="200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Chalkboard SE Regular" panose="03050602040202020205" charset="0"/>
                <a:cs typeface="Chalkboard SE Regular" panose="03050602040202020205" charset="0"/>
              </a:rPr>
              <a:t>IR</a:t>
            </a:r>
            <a:endParaRPr lang="en-US" altLang="zh-CN" sz="1000">
              <a:latin typeface="Chalkboard SE Regular" panose="03050602040202020205" charset="0"/>
              <a:cs typeface="Chalkboard SE Regular" panose="03050602040202020205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227820" y="1756410"/>
            <a:ext cx="683895" cy="200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Chalkboard SE Regular" panose="03050602040202020205" charset="0"/>
                <a:cs typeface="Chalkboard SE Regular" panose="03050602040202020205" charset="0"/>
              </a:rPr>
              <a:t>Healthy</a:t>
            </a:r>
            <a:endParaRPr lang="en-US" altLang="zh-CN" sz="1000">
              <a:latin typeface="Chalkboard SE Regular" panose="03050602040202020205" charset="0"/>
              <a:cs typeface="Chalkboard SE Regular" panose="03050602040202020205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0250805" y="1727200"/>
            <a:ext cx="683895" cy="200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Chalkboard SE Regular" panose="03050602040202020205" charset="0"/>
                <a:cs typeface="Chalkboard SE Regular" panose="03050602040202020205" charset="0"/>
              </a:rPr>
              <a:t>OR</a:t>
            </a:r>
            <a:endParaRPr lang="en-US" altLang="zh-CN" sz="1000">
              <a:latin typeface="Chalkboard SE Regular" panose="03050602040202020205" charset="0"/>
              <a:cs typeface="Chalkboard SE Regular" panose="03050602040202020205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1227435" y="1728470"/>
            <a:ext cx="560070" cy="200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Chalkboard SE Regular" panose="03050602040202020205" charset="0"/>
                <a:cs typeface="Chalkboard SE Regular" panose="03050602040202020205" charset="0"/>
              </a:rPr>
              <a:t>IR</a:t>
            </a:r>
            <a:endParaRPr lang="en-US" altLang="zh-CN" sz="1000">
              <a:latin typeface="Chalkboard SE Regular" panose="03050602040202020205" charset="0"/>
              <a:cs typeface="Chalkboard SE Regular" panose="03050602040202020205" charset="0"/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10381615" y="2923540"/>
            <a:ext cx="0" cy="125285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1" name="图片 40" descr="ChatGPT Image 2026年7月5日 20_56_49"/>
          <p:cNvPicPr>
            <a:picLocks noChangeAspect="1"/>
          </p:cNvPicPr>
          <p:nvPr/>
        </p:nvPicPr>
        <p:blipFill>
          <a:blip r:embed="rId3"/>
          <a:srcRect l="85822" t="42715" r="5754" b="47062"/>
          <a:stretch>
            <a:fillRect/>
          </a:stretch>
        </p:blipFill>
        <p:spPr>
          <a:xfrm>
            <a:off x="10584815" y="2943860"/>
            <a:ext cx="813435" cy="5556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WPS 演示</Application>
  <PresentationFormat>宽屏</PresentationFormat>
  <Paragraphs>24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9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汉仪旗黑</vt:lpstr>
      <vt:lpstr>Arial Unicode MS</vt:lpstr>
      <vt:lpstr>Heiti SC Light</vt:lpstr>
      <vt:lpstr>微软雅黑</vt:lpstr>
      <vt:lpstr>Songti SC Regular</vt:lpstr>
      <vt:lpstr>American Typewriter Regular</vt:lpstr>
      <vt:lpstr>Arial Rounded MT Bold</vt:lpstr>
      <vt:lpstr>Avenir Book</vt:lpstr>
      <vt:lpstr>Arial Hebrew Regular</vt:lpstr>
      <vt:lpstr>Arial Hebrew Scholar Regular</vt:lpstr>
      <vt:lpstr>Bodoni Ornaments</vt:lpstr>
      <vt:lpstr>Comic Sans MS Regular</vt:lpstr>
      <vt:lpstr>Cochin Regular</vt:lpstr>
      <vt:lpstr>方正书宋_GBK</vt:lpstr>
      <vt:lpstr>Arial Black</vt:lpstr>
      <vt:lpstr>华文宋体</vt:lpstr>
      <vt:lpstr>华文楷体</vt:lpstr>
      <vt:lpstr>Heiti TC Light</vt:lpstr>
      <vt:lpstr>Arial Narrow Regular</vt:lpstr>
      <vt:lpstr>DIN Alternate</vt:lpstr>
      <vt:lpstr>Didot Regular</vt:lpstr>
      <vt:lpstr>Geeza Pro Regular</vt:lpstr>
      <vt:lpstr>Hiragino Mincho ProN W3</vt:lpstr>
      <vt:lpstr>Krungthep</vt:lpstr>
      <vt:lpstr>Malayalam Sangam MN Regular</vt:lpstr>
      <vt:lpstr>Mukta Mahee Regular</vt:lpstr>
      <vt:lpstr>Telugu MN Regular</vt:lpstr>
      <vt:lpstr>Tamil MN Regular</vt:lpstr>
      <vt:lpstr>Khmer MN Regular</vt:lpstr>
      <vt:lpstr>Apple Color Emoji</vt:lpstr>
      <vt:lpstr>Apple Chancery</vt:lpstr>
      <vt:lpstr>Avenir Next Condensed Regular</vt:lpstr>
      <vt:lpstr>Bangla MN Regular</vt:lpstr>
      <vt:lpstr>Brush Script MT</vt:lpstr>
      <vt:lpstr>Bradley Hand</vt:lpstr>
      <vt:lpstr>Al Bayan Plain</vt:lpstr>
      <vt:lpstr>Times New Roman Regular</vt:lpstr>
      <vt:lpstr>Academy Engraved LET</vt:lpstr>
      <vt:lpstr>Ayuthaya</vt:lpstr>
      <vt:lpstr>Farah</vt:lpstr>
      <vt:lpstr>Hiragino Mincho Pro W3</vt:lpstr>
      <vt:lpstr>Kohinoor Telugu Regular</vt:lpstr>
      <vt:lpstr>Party LET</vt:lpstr>
      <vt:lpstr>Papyrus Regular</vt:lpstr>
      <vt:lpstr>Tahoma Regular</vt:lpstr>
      <vt:lpstr>Tamil Sangam MN Regular</vt:lpstr>
      <vt:lpstr>Noto Serif Myanmar Regular</vt:lpstr>
      <vt:lpstr>Menlo Regular</vt:lpstr>
      <vt:lpstr>Lucida Grande Regular</vt:lpstr>
      <vt:lpstr>Kannada MN Regular</vt:lpstr>
      <vt:lpstr>ITF Devanagari Marathi Book</vt:lpstr>
      <vt:lpstr>Hiragino Kaku Gothic Std</vt:lpstr>
      <vt:lpstr>Chalkduster</vt:lpstr>
      <vt:lpstr>Al Nile Regular</vt:lpstr>
      <vt:lpstr>Apple Braille Outline 6 Dot</vt:lpstr>
      <vt:lpstr>Baghdad</vt:lpstr>
      <vt:lpstr>Chalkboard Regular</vt:lpstr>
      <vt:lpstr>Chalkboard SE Regular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jianyang</cp:lastModifiedBy>
  <cp:revision>162</cp:revision>
  <dcterms:created xsi:type="dcterms:W3CDTF">2026-07-09T06:50:19Z</dcterms:created>
  <dcterms:modified xsi:type="dcterms:W3CDTF">2026-07-09T06:50:19Z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2052-7.3.1.8967</vt:lpwstr>
  </property>
  <property fmtid="{D5CDD505-2E9C-101B-9397-08002B2CF9AE}" pid="3" name="ICV">
    <vt:lpwstr>C13135CD0A306685D1694C6AD9226AE5_41</vt:lpwstr>
  </property>
</Properties>
</file>